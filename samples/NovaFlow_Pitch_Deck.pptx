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639"/>
          </a:solidFill>
          <a:ln>
            <a:solidFill>
              <a:srgbClr val="1A26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NovaFlow AI</a:t>
            </a:r>
          </a:p>
          <a:p>
            <a:pPr>
              <a:defRPr sz="2200">
                <a:solidFill>
                  <a:srgbClr val="B4C8DC"/>
                </a:solidFill>
              </a:defRPr>
            </a:pPr>
            <a:r>
              <a:t>Next-Generation Autonomous Workflow Orchestration</a:t>
            </a:r>
          </a:p>
          <a:p>
            <a:br/>
            <a:pPr>
              <a:defRPr sz="1400">
                <a:solidFill>
                  <a:srgbClr val="8296AA"/>
                </a:solidFill>
              </a:defRPr>
            </a:pPr>
            <a:r>
              <a:t>Seed Round Pitch Deck  •  Confidential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THE PROBLEM &amp; SOLUTION</a:t>
            </a:r>
          </a:p>
          <a:p>
            <a:pPr>
              <a:defRPr sz="2600" b="1">
                <a:solidFill>
                  <a:srgbClr val="1E293B"/>
                </a:solidFill>
              </a:defRPr>
            </a:pPr>
            <a:r>
              <a:t>The Market Opportunity: Fragmented Enterprise Workflows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65760"/>
          <a:lstStyle/>
          <a:p>
            <a:pPr algn="ctr">
              <a:defRPr sz="2000" b="1">
                <a:solidFill>
                  <a:srgbClr val="B42828"/>
                </a:solidFill>
              </a:defRPr>
            </a:pPr>
            <a:r>
              <a:t>🚨 The Problem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Knowledge workers waste 4.2 hrs/day switching between disjointed SaaS tools.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Traditional RPA tools are fragile and break with any minor UI update.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Custom integration pipelines cost enterprises $250k+ annually in maintenance.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828800"/>
            <a:ext cx="5120640" cy="4114800"/>
          </a:xfrm>
          <a:prstGeom prst="rect">
            <a:avLst/>
          </a:prstGeom>
          <a:solidFill>
            <a:srgbClr val="F0F9FF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65760"/>
          <a:lstStyle/>
          <a:p>
            <a:pPr algn="ctr">
              <a:defRPr sz="2000" b="1">
                <a:solidFill>
                  <a:srgbClr val="0C4A6E"/>
                </a:solidFill>
              </a:defRPr>
            </a:pPr>
            <a:r>
              <a:t>💡 The NovaFlow Solution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Self-Healing Browser Agents: Vision-guided navigation that adapts dynamically.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Unified Control Plane: Natural language prompts orchestrated into multi-agent tasks.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Zero Code Integration: Connects existing internal tools without complex API maintenance.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GROWTH &amp; THE ASK</a:t>
            </a:r>
          </a:p>
          <a:p>
            <a:pPr>
              <a:defRPr sz="2600" b="1">
                <a:solidFill>
                  <a:srgbClr val="1E293B"/>
                </a:solidFill>
              </a:defRPr>
            </a:pPr>
            <a:r>
              <a:t>Traction &amp; Seed Financing Round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2560320" cy="18288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0"/>
          <a:lstStyle/>
          <a:p>
            <a:pPr algn="ctr">
              <a:defRPr sz="3200" b="1">
                <a:solidFill>
                  <a:srgbClr val="2980B9"/>
                </a:solidFill>
              </a:defRPr>
            </a:pPr>
            <a:r>
              <a:t>350%</a:t>
            </a:r>
          </a:p>
          <a:p>
            <a:pPr algn="ctr">
              <a:defRPr sz="1300">
                <a:solidFill>
                  <a:srgbClr val="646E78"/>
                </a:solidFill>
              </a:defRPr>
            </a:pPr>
            <a:r>
              <a:t>YoY ARR Growth</a:t>
            </a:r>
          </a:p>
        </p:txBody>
      </p:sp>
      <p:sp>
        <p:nvSpPr>
          <p:cNvPr id="4" name="Rectangle 3"/>
          <p:cNvSpPr/>
          <p:nvPr/>
        </p:nvSpPr>
        <p:spPr>
          <a:xfrm>
            <a:off x="3429000" y="2011680"/>
            <a:ext cx="2560320" cy="18288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0"/>
          <a:lstStyle/>
          <a:p>
            <a:pPr algn="ctr">
              <a:defRPr sz="3200" b="1">
                <a:solidFill>
                  <a:srgbClr val="2980B9"/>
                </a:solidFill>
              </a:defRPr>
            </a:pPr>
            <a:r>
              <a:t>$1.2M</a:t>
            </a:r>
          </a:p>
          <a:p>
            <a:pPr algn="ctr">
              <a:defRPr sz="1300">
                <a:solidFill>
                  <a:srgbClr val="646E78"/>
                </a:solidFill>
              </a:defRPr>
            </a:pPr>
            <a:r>
              <a:t>Current ARR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2011680"/>
            <a:ext cx="2560320" cy="18288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0"/>
          <a:lstStyle/>
          <a:p>
            <a:pPr algn="ctr">
              <a:defRPr sz="3200" b="1">
                <a:solidFill>
                  <a:srgbClr val="2980B9"/>
                </a:solidFill>
              </a:defRPr>
            </a:pPr>
            <a:r>
              <a:t>125%</a:t>
            </a:r>
          </a:p>
          <a:p>
            <a:pPr algn="ctr">
              <a:defRPr sz="1300">
                <a:solidFill>
                  <a:srgbClr val="646E78"/>
                </a:solidFill>
              </a:defRPr>
            </a:pPr>
            <a:r>
              <a:t>Net Dollar Retention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823960" y="2011680"/>
            <a:ext cx="2560320" cy="18288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0"/>
          <a:lstStyle/>
          <a:p>
            <a:pPr algn="ctr">
              <a:defRPr sz="3200" b="1">
                <a:solidFill>
                  <a:srgbClr val="2980B9"/>
                </a:solidFill>
              </a:defRPr>
            </a:pPr>
            <a:r>
              <a:t>42</a:t>
            </a:r>
          </a:p>
          <a:p>
            <a:pPr algn="ctr">
              <a:defRPr sz="1300">
                <a:solidFill>
                  <a:srgbClr val="646E78"/>
                </a:solidFill>
              </a:defRPr>
            </a:pPr>
            <a:r>
              <a:t>Enterprise Pilots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297680"/>
            <a:ext cx="10652760" cy="1645920"/>
          </a:xfrm>
          <a:prstGeom prst="rect">
            <a:avLst/>
          </a:prstGeom>
          <a:solidFill>
            <a:srgbClr val="1A2639"/>
          </a:solidFill>
          <a:ln>
            <a:solidFill>
              <a:srgbClr val="1A26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7432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🎯 Raising $3.5M Seed Funding</a:t>
            </a:r>
          </a:p>
          <a:p>
            <a:pPr>
              <a:defRPr sz="1400">
                <a:solidFill>
                  <a:srgbClr val="C8D7E6"/>
                </a:solidFill>
              </a:defRPr>
            </a:pPr>
            <a:r>
              <a:t>Use of Funds: 60% Core AI Engineering &amp; Safety, 25% Go-to-Market Expansion, 15% Strategic Partnerships.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